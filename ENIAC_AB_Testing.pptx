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T34WHHwjwgUzOB0K7JR5Ga8hM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53ac2b19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53ac2b19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53ac2b196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53ac2b196_0_1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53ac2b196_0_13"/>
          <p:cNvSpPr/>
          <p:nvPr/>
        </p:nvSpPr>
        <p:spPr>
          <a:xfrm>
            <a:off x="457200" y="868680"/>
            <a:ext cx="5943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A/B Testing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f53ac2b196_0_13"/>
          <p:cNvSpPr/>
          <p:nvPr/>
        </p:nvSpPr>
        <p:spPr>
          <a:xfrm>
            <a:off x="457200" y="201168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Designing Experiments for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ENIAC iPhone 13 Campaign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f53ac2b196_0_13"/>
          <p:cNvSpPr/>
          <p:nvPr/>
        </p:nvSpPr>
        <p:spPr>
          <a:xfrm>
            <a:off x="457200" y="3063240"/>
            <a:ext cx="2286000" cy="45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f53ac2b196_0_13"/>
          <p:cNvSpPr/>
          <p:nvPr/>
        </p:nvSpPr>
        <p:spPr>
          <a:xfrm>
            <a:off x="457200" y="3291840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Q1  How many versions should be tested?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f53ac2b196_0_13"/>
          <p:cNvSpPr/>
          <p:nvPr/>
        </p:nvSpPr>
        <p:spPr>
          <a:xfrm>
            <a:off x="457200" y="3703320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Q2  What kinds of changes can be tested?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f53ac2b196_0_13"/>
          <p:cNvSpPr/>
          <p:nvPr/>
        </p:nvSpPr>
        <p:spPr>
          <a:xfrm>
            <a:off x="8778240" y="0"/>
            <a:ext cx="3657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f53ac2b196_0_13"/>
          <p:cNvSpPr/>
          <p:nvPr/>
        </p:nvSpPr>
        <p:spPr>
          <a:xfrm>
            <a:off x="457200" y="42062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0000"/>
                </a:solidFill>
              </a:rPr>
              <a:t>The A/B‑Solute Beginners</a:t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f53ac2b196_0_13"/>
          <p:cNvSpPr/>
          <p:nvPr/>
        </p:nvSpPr>
        <p:spPr>
          <a:xfrm>
            <a:off x="457200" y="4498848"/>
            <a:ext cx="621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Anushree  ·  Liana  ·  Sana  ·  S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udha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 S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f53ac2b196_0_13"/>
          <p:cNvSpPr/>
          <p:nvPr/>
        </p:nvSpPr>
        <p:spPr>
          <a:xfrm>
            <a:off x="0" y="4754880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77"/>
                </a:solidFill>
                <a:latin typeface="Calibri"/>
                <a:ea typeface="Calibri"/>
                <a:cs typeface="Calibri"/>
                <a:sym typeface="Calibri"/>
              </a:rPr>
              <a:t>ENIAC · WBS Coding School · Block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&amp; Q2 — Versions &amp; Types of Changes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621792"/>
            <a:ext cx="4160520" cy="384048"/>
          </a:xfrm>
          <a:prstGeom prst="roundRect">
            <a:avLst>
              <a:gd fmla="val 14286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274320" y="6217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Q1  How many versions?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1078992"/>
            <a:ext cx="4160520" cy="438912"/>
          </a:xfrm>
          <a:prstGeom prst="roundRect">
            <a:avLst>
              <a:gd fmla="val 12500" name="adj"/>
            </a:avLst>
          </a:prstGeom>
          <a:solidFill>
            <a:srgbClr val="FFF3E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47472" y="1078992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Classic A/B = 2 versions. More = A/B/n test.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More versions need more traffic and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74320" y="1627632"/>
            <a:ext cx="987552" cy="1417320"/>
          </a:xfrm>
          <a:prstGeom prst="roundRect">
            <a:avLst>
              <a:gd fmla="val 7407" name="adj"/>
            </a:avLst>
          </a:prstGeom>
          <a:solidFill>
            <a:srgbClr val="1A1A2E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75488" y="1719072"/>
            <a:ext cx="566928" cy="566928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5488" y="17190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10896" y="23774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80" y="1627632"/>
            <a:ext cx="987552" cy="1417320"/>
          </a:xfrm>
          <a:prstGeom prst="roundRect">
            <a:avLst>
              <a:gd fmla="val 7407" name="adj"/>
            </a:avLst>
          </a:prstGeom>
          <a:solidFill>
            <a:srgbClr val="1A1A2E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527048" y="1719072"/>
            <a:ext cx="566928" cy="566928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527048" y="17190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62456" y="23774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Red Button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377440" y="1627632"/>
            <a:ext cx="987552" cy="1417320"/>
          </a:xfrm>
          <a:prstGeom prst="roundRect">
            <a:avLst>
              <a:gd fmla="val 7407" name="adj"/>
            </a:avLst>
          </a:prstGeom>
          <a:solidFill>
            <a:srgbClr val="1A1A2E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2578608" y="1719072"/>
            <a:ext cx="566928" cy="566928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578608" y="17190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414016" y="23774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SEE DEALS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429000" y="1627632"/>
            <a:ext cx="987552" cy="1417320"/>
          </a:xfrm>
          <a:prstGeom prst="roundRect">
            <a:avLst>
              <a:gd fmla="val 7407" name="adj"/>
            </a:avLst>
          </a:prstGeom>
          <a:solidFill>
            <a:srgbClr val="1A1A2E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630168" y="1719072"/>
            <a:ext cx="566928" cy="566928"/>
          </a:xfrm>
          <a:prstGeom prst="ellipse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630168" y="17190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465576" y="23774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 + 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74320" y="3145536"/>
            <a:ext cx="4160520" cy="530352"/>
          </a:xfrm>
          <a:prstGeom prst="roundRect">
            <a:avLst>
              <a:gd fmla="val 10345" name="adj"/>
            </a:avLst>
          </a:prstGeom>
          <a:solidFill>
            <a:srgbClr val="16213E"/>
          </a:solidFill>
          <a:ln cap="flat" cmpd="sng" w="12700">
            <a:solidFill>
              <a:srgbClr val="1621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84048" y="3145536"/>
            <a:ext cx="3977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ENIAC splits 50,000 visitors across 4 versions (~12,500 each). Version D combines B+C to test synergy.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0" y="594360"/>
            <a:ext cx="36576" cy="4206240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709160" y="621792"/>
            <a:ext cx="4160520" cy="384048"/>
          </a:xfrm>
          <a:prstGeom prst="roundRect">
            <a:avLst>
              <a:gd fmla="val 14286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709160" y="6217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Q2  What kinds of changes?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09160" y="1078992"/>
            <a:ext cx="4160520" cy="438912"/>
          </a:xfrm>
          <a:prstGeom prst="roundRect">
            <a:avLst>
              <a:gd fmla="val 12500" name="adj"/>
            </a:avLst>
          </a:prstGeom>
          <a:solidFill>
            <a:srgbClr val="E8F5E9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800600" y="1078992"/>
            <a:ext cx="4005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Golden Rule: Test ONE change at a time so you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know exactly what caused the difference.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709160" y="1545146"/>
            <a:ext cx="4160400" cy="502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709160" y="1545146"/>
            <a:ext cx="1097400" cy="5028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709160" y="1534322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879592" y="1561754"/>
            <a:ext cx="295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Button color (white to red) or text (SHOP NOW to SEE DEALS)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09160" y="2112074"/>
            <a:ext cx="4160400" cy="502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709160" y="2112074"/>
            <a:ext cx="1097400" cy="50280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709160" y="2101250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879592" y="2128682"/>
            <a:ext cx="295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 discount badge (20% OFF), change headline copy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709160" y="2679002"/>
            <a:ext cx="4160400" cy="502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709160" y="2679002"/>
            <a:ext cx="1097400" cy="50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709160" y="2668178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879592" y="2695610"/>
            <a:ext cx="295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Full page redesign, new theme, new user purchase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709160" y="3210479"/>
            <a:ext cx="4160400" cy="530400"/>
          </a:xfrm>
          <a:prstGeom prst="roundRect">
            <a:avLst>
              <a:gd fmla="val 10345" name="adj"/>
            </a:avLst>
          </a:prstGeom>
          <a:solidFill>
            <a:srgbClr val="16213E"/>
          </a:solidFill>
          <a:ln cap="flat" cmpd="sng" w="12700">
            <a:solidFill>
              <a:srgbClr val="1621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818888" y="3210479"/>
            <a:ext cx="3977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D intentionally breaks the rule — combining B+C to test whether the combo amplifies the effect.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65760" y="3886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Current ENIAC CTR on SHOP NOW button: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65760" y="4206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Only 2%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286000" y="43159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(1,000 clicks out of 50,000 visits)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303520" y="397764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Goal: improve this with the right version and the right type of change!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28595" y="-27325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Button Would YOU Click? + Key Takeaways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Vote now — then we reveal what data shows. Human intuition is often wrong. That is why we test!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28600" y="1005840"/>
            <a:ext cx="2011680" cy="2331720"/>
          </a:xfrm>
          <a:prstGeom prst="roundRect">
            <a:avLst>
              <a:gd fmla="val 4545" name="adj"/>
            </a:avLst>
          </a:prstGeom>
          <a:solidFill>
            <a:srgbClr val="16213E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28600" y="1097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Version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65760" y="1444752"/>
            <a:ext cx="1737360" cy="91440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29768" y="15087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iPhone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76072" y="1828800"/>
            <a:ext cx="1051560" cy="32004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76072" y="18288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SHOP 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0040" y="2450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White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48640" y="2971800"/>
            <a:ext cx="1371600" cy="301752"/>
          </a:xfrm>
          <a:prstGeom prst="roundRect">
            <a:avLst>
              <a:gd fmla="val 15152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48640" y="2971800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Raise Hand!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423160" y="1005840"/>
            <a:ext cx="2011680" cy="2331720"/>
          </a:xfrm>
          <a:prstGeom prst="roundRect">
            <a:avLst>
              <a:gd fmla="val 4545" name="adj"/>
            </a:avLst>
          </a:prstGeom>
          <a:solidFill>
            <a:srgbClr val="16213E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2423160" y="1097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Version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560320" y="1444752"/>
            <a:ext cx="1737360" cy="91440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624328" y="15087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iPhone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70632" y="1828800"/>
            <a:ext cx="1051560" cy="320040"/>
          </a:xfrm>
          <a:prstGeom prst="roundRect">
            <a:avLst>
              <a:gd fmla="val 11429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770632" y="18288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 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514600" y="2450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743200" y="2971800"/>
            <a:ext cx="1371600" cy="301752"/>
          </a:xfrm>
          <a:prstGeom prst="roundRect">
            <a:avLst>
              <a:gd fmla="val 15152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2743200" y="2971800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Raise Hand!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617720" y="1005840"/>
            <a:ext cx="2011680" cy="2331720"/>
          </a:xfrm>
          <a:prstGeom prst="roundRect">
            <a:avLst>
              <a:gd fmla="val 4545" name="adj"/>
            </a:avLst>
          </a:prstGeom>
          <a:solidFill>
            <a:srgbClr val="16213E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617720" y="1097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Version 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754880" y="1444752"/>
            <a:ext cx="1737360" cy="91440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818888" y="15087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iPhone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965192" y="1828800"/>
            <a:ext cx="1051560" cy="32004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965192" y="18288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SEE DEALS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709160" y="2450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White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New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937760" y="2971800"/>
            <a:ext cx="1371600" cy="301752"/>
          </a:xfrm>
          <a:prstGeom prst="roundRect">
            <a:avLst>
              <a:gd fmla="val 15152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937760" y="2971800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Raise Hand!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812280" y="1005840"/>
            <a:ext cx="2011680" cy="2331720"/>
          </a:xfrm>
          <a:prstGeom prst="roundRect">
            <a:avLst>
              <a:gd fmla="val 4545" name="adj"/>
            </a:avLst>
          </a:prstGeom>
          <a:solidFill>
            <a:srgbClr val="16213E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812280" y="1097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Version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949440" y="1444752"/>
            <a:ext cx="1737360" cy="91440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7013448" y="15087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iPhone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159752" y="1828800"/>
            <a:ext cx="1051560" cy="320040"/>
          </a:xfrm>
          <a:prstGeom prst="roundRect">
            <a:avLst>
              <a:gd fmla="val 11429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159752" y="18288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 DEALS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903720" y="24505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Red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New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132320" y="2971800"/>
            <a:ext cx="1371600" cy="301752"/>
          </a:xfrm>
          <a:prstGeom prst="roundRect">
            <a:avLst>
              <a:gd fmla="val 15152" name="adj"/>
            </a:avLst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132320" y="2971800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Raise Hand!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28600" y="3493008"/>
            <a:ext cx="2011680" cy="1417320"/>
          </a:xfrm>
          <a:prstGeom prst="roundRect">
            <a:avLst>
              <a:gd fmla="val 5161" name="adj"/>
            </a:avLst>
          </a:prstGeom>
          <a:solidFill>
            <a:srgbClr val="16213E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228600" y="3675888"/>
            <a:ext cx="54864" cy="105156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393192" y="363016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93192" y="3968496"/>
            <a:ext cx="1783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2 = A/B, more = A/B/n. Balance variety with traffic.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2423160" y="3493008"/>
            <a:ext cx="2011680" cy="1417320"/>
          </a:xfrm>
          <a:prstGeom prst="roundRect">
            <a:avLst>
              <a:gd fmla="val 5161" name="adj"/>
            </a:avLst>
          </a:prstGeom>
          <a:solidFill>
            <a:srgbClr val="16213E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2423160" y="3675888"/>
            <a:ext cx="54864" cy="105156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2587752" y="363016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2587752" y="3968496"/>
            <a:ext cx="1783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Small to big. Start small for clearer results.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617720" y="3493008"/>
            <a:ext cx="2011680" cy="1417320"/>
          </a:xfrm>
          <a:prstGeom prst="roundRect">
            <a:avLst>
              <a:gd fmla="val 5161" name="adj"/>
            </a:avLst>
          </a:prstGeom>
          <a:solidFill>
            <a:srgbClr val="16213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617720" y="3675888"/>
            <a:ext cx="54864" cy="105156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4782312" y="363016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at a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782312" y="3968496"/>
            <a:ext cx="1783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Isolate variables. D breaks this intentionally.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812280" y="3493008"/>
            <a:ext cx="2011680" cy="1417320"/>
          </a:xfrm>
          <a:prstGeom prst="roundRect">
            <a:avLst>
              <a:gd fmla="val 5161" name="adj"/>
            </a:avLst>
          </a:prstGeom>
          <a:solidFill>
            <a:srgbClr val="16213E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812280" y="3675888"/>
            <a:ext cx="54864" cy="105156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6976872" y="363016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ENIACs Goal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976872" y="3968496"/>
            <a:ext cx="1783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Raise 2% CTR. +1% = 500 more clicks per week!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2026-07-16T08:11:14Z</dcterms:created>
  <dc:creator>PptxGenJS</dc:creator>
</cp:coreProperties>
</file>